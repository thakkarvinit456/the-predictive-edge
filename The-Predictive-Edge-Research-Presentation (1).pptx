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45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62763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Startup Success Model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176272"/>
            <a:ext cx="4389120" cy="411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225856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Machine Learning to Forecast Startup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Trajectories and De-Risk Investment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731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9320" y="1024128"/>
            <a:ext cx="2834640" cy="3657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89320" y="1097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 Thakkar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89320" y="1481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242703073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23042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Atul Kumar Verma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971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Management Studies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Entrepreneurship Lab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1920240" cy="38404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  |  A Startup Success Model  |  Machine Learning for Startup Trajectory Forecasting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Edge: A Startup Success Model  |  Vinit Thakkar  |  Reg. 242703073  |  Mentor: Dr. Atul Kumar Verma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" y="1389888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startup ecosystem is a critical engine of economic growth, yet riddled with systemic failure. Globally, 9 out of 10 startups fail — not from lack of innovation, but from a fundamental deficiency in data-driven decision-making during critical early stages.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rely on intuition over analytics. Investors lack objective risk-quantification tools. Capital is sub-optimally allocated — leaving the ecosystem exposed to preventable, large-scale losses.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15000" y="1078992"/>
            <a:ext cx="1572768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15000" y="1133856"/>
            <a:ext cx="157276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15000" y="1662379"/>
            <a:ext cx="157276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Globally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24928" y="1078992"/>
            <a:ext cx="1572768" cy="10058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24928" y="1133856"/>
            <a:ext cx="157276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$300B+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24928" y="1662379"/>
            <a:ext cx="157276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VC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Capital/Year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15000" y="2221992"/>
            <a:ext cx="1572768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15000" y="2276856"/>
            <a:ext cx="157276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715000" y="2805379"/>
            <a:ext cx="157276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24928" y="2221992"/>
            <a:ext cx="1572768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4928" y="2276856"/>
            <a:ext cx="157276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24928" y="2805379"/>
            <a:ext cx="157276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Wrong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2953512"/>
            <a:ext cx="8485632" cy="1755648"/>
          </a:xfrm>
          <a:prstGeom prst="rect">
            <a:avLst/>
          </a:prstGeom>
          <a:solidFill>
            <a:srgbClr val="EAF0FB"/>
          </a:solidFill>
          <a:ln w="762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7472" y="2953512"/>
            <a:ext cx="59436" cy="17556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21208" y="3035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21208" y="3337560"/>
            <a:ext cx="8229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 — A Startup Success Model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ML-powered Probability of Success (PoS) engine analysing five core dimensions: Team, Funding, Market, Sentiment, and Industry.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&amp; early-stage startups using real data from Crunchbase, AngelList, LinkedIn, Google Trends, Product Hunt, Twitter, and Reddit.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Edge: A Startup Success Model  |  Vinit Thakkar  |  Reg. 242703073  |  Mentor: Dr. Atul Kumar Verma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Research on Startup Success Prediction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426464"/>
            <a:ext cx="42245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" y="1426464"/>
            <a:ext cx="59436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Gompers et al., 2020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6733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Decision-Making Factors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8836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quality is rated the #1 investment factor by 95% of VCs — ranked above market size, business model, or idea novelty.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1426464"/>
            <a:ext cx="42245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0600" y="1426464"/>
            <a:ext cx="59436" cy="96012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56048" y="14813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&amp; Dorf, 2012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56048" y="16733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Startup Owner's Manual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18836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 and lean iteration are the strongest early-stage predictors of product-market fit and long-term viability.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2478024"/>
            <a:ext cx="42245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47472" y="2478024"/>
            <a:ext cx="59436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25328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 &amp; Krishnan, 2020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724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for Startup 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93522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models achieve 74% accuracy predicting 3-year startup survival using 22 engineered features from financial and operational data.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478024"/>
            <a:ext cx="42245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00600" y="2478024"/>
            <a:ext cx="59436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56048" y="25328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al., 2022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56048" y="2724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in Ecosystems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293522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centrality and co-founder graph embeddings improve startup success prediction AUC by 11% over traditional tabular ML approaches.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529584"/>
            <a:ext cx="42245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7472" y="3529584"/>
            <a:ext cx="59436" cy="96012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" y="3584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 &amp; Patel, 2023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3776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Social Signal Integration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98678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founder reputation scoring and social buzz analysis adds 8% precision to existing financial models when combined effectively.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529584"/>
            <a:ext cx="422452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00600" y="3529584"/>
            <a:ext cx="59436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56048" y="3584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 Extended Studies, 2015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56048" y="3776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Startup Metrics Validation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56048" y="398678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frequency, cohort retention, and burn rate velocity are strongly correlated with long-term survivability and next-round fundraising.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" y="4590288"/>
            <a:ext cx="8485632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2920" y="45902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existing model holistically unifies financial, team, sentiment, and market signals into a real-time, sector-adaptive scoring engine.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Edge: A Startup Success Model  |  Vinit Thakkar  |  Reg. 242703073  |  Mentor: Dr. Atul Kumar Verma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078992"/>
            <a:ext cx="8485632" cy="8412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" y="1078992"/>
            <a:ext cx="59436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106424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startup evaluation relies on subjective heuristics and fragmented metrics, creating blind spots that cause investment decisions to be based on incomplete information — leading to systematic misallocation of capital and preventable startup failures.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066544"/>
            <a:ext cx="202996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7472" y="2066544"/>
            <a:ext cx="2029968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97280" y="2139696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21396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pipeline aggregates financial, team, market, and behavioral data. Each dimension is evaluated in isolation, missing critical interdependencies.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23744" y="2066544"/>
            <a:ext cx="202996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523744" y="2066544"/>
            <a:ext cx="2029968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73552" y="2139696"/>
            <a:ext cx="530352" cy="53035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73552" y="21396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33472" y="2743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33472" y="3182112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decisions are systematically biased by demographics and network access, disadvantaging equally capable founders from underrepresented groups.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0016" y="2066544"/>
            <a:ext cx="202996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00016" y="2066544"/>
            <a:ext cx="2029968" cy="50292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49824" y="2139696"/>
            <a:ext cx="530352" cy="530352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49824" y="21396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9744" y="2743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9744" y="3182112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evaluate startups at a single moment, ignoring trajectory, momentum, and velocity signals that are critical predictors of success.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76288" y="2066544"/>
            <a:ext cx="202996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876288" y="2066544"/>
            <a:ext cx="2029968" cy="502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626096" y="2139696"/>
            <a:ext cx="530352" cy="53035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626096" y="21396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86016" y="2743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86016" y="3182112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models fail when applied across domains. No robust cross-sector, multi-region prediction framework currently exists.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Edge: A Startup Success Model  |  Vinit Thakkar  |  Reg. 242703073  |  Mentor: Dr. Atul Kumar Verma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the Success Prediction Engine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ML platform computing real-time Probability of Success (PoS) across five core dimensions — delivering scores, risk classification, and actionable recommendations.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1737360"/>
            <a:ext cx="1581912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" y="176479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" y="21214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Experience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48256" y="1737360"/>
            <a:ext cx="1581912" cy="12801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048256" y="176479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48256" y="21214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1737360"/>
            <a:ext cx="1581912" cy="12801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49040" y="176479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21214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9824" y="1737360"/>
            <a:ext cx="1581912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49824" y="176479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9824" y="21214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Buzz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50608" y="1737360"/>
            <a:ext cx="1581912" cy="12801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50608" y="1764792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50608" y="21214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127248"/>
            <a:ext cx="8485632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108960" y="3246120"/>
            <a:ext cx="2926080" cy="749808"/>
          </a:xfrm>
          <a:prstGeom prst="rect">
            <a:avLst/>
          </a:prstGeom>
          <a:solidFill>
            <a:srgbClr val="1B3A6B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108960" y="32461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SUCCESS PREDICTION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 Score 0 – 100)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4114800"/>
            <a:ext cx="2651760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7472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9544" y="4114800"/>
            <a:ext cx="2651760" cy="65836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9544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71616" y="4114800"/>
            <a:ext cx="265176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071616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" y="4617720"/>
            <a:ext cx="8485632" cy="201168"/>
          </a:xfrm>
          <a:prstGeom prst="rect">
            <a:avLst/>
          </a:prstGeom>
          <a:solidFill>
            <a:srgbClr val="EAF0FB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Crunchbase  •  AngelList  •  LinkedIn  •  Google Trends  •  Product Hunt  •  Twitter/X  •  Reddit  •  SEC Filings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Edge: A Startup Success Model  |  Vinit Thakkar  |  Reg. 242703073  |  Mentor: Dr. Atul Kumar Verma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353312"/>
            <a:ext cx="8485632" cy="621792"/>
          </a:xfrm>
          <a:prstGeom prst="rect">
            <a:avLst/>
          </a:prstGeom>
          <a:solidFill>
            <a:srgbClr val="EAF0FB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" y="1353312"/>
            <a:ext cx="59436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0352" y="138074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validate, and deploy a multi-signal machine learning model that computes a real-time Probability of Success (PoS) score — enabling objective, data-driven decisions for founders, investors, and accelerators across sectors and geographies.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103120"/>
            <a:ext cx="422452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7472" y="2103120"/>
            <a:ext cx="54864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7472" y="2103120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216712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87552" y="2404872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and normalize financial, team, market, and behavioral data from Crunchbase, AngelList, LinkedIn, and social platforms into a unified schema.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103120"/>
            <a:ext cx="422452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00600" y="2103120"/>
            <a:ext cx="548640" cy="76809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0" y="2103120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216712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40680" y="2404872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validate top predictive features using SHAP analysis and PCA across the five core dimensions of the model.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953512"/>
            <a:ext cx="422452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7472" y="2953512"/>
            <a:ext cx="548640" cy="7680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95351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7552" y="30175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Development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7552" y="3255264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Gradient Boosting, Random Forest, and Neural Network models to identify the optimal architecture for startup success prediction.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953512"/>
            <a:ext cx="422452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00600" y="2953512"/>
            <a:ext cx="54864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00600" y="295351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30175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Evaluation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40680" y="3255264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accurate PoS scoring for pre-revenue and early-stage teams — before product-market fit is achieved — using team and market signals.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" y="3803904"/>
            <a:ext cx="422452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47472" y="3803904"/>
            <a:ext cx="548640" cy="76809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7472" y="3803904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87552" y="386791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7552" y="4105656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prioritized, strategic recommendations to founders for optimizing their PoS score across team, funding, market, and sentiment dimensions.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803904"/>
            <a:ext cx="4224528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800600" y="3803904"/>
            <a:ext cx="548640" cy="7680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00600" y="3803904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40680" y="386791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Deployment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40680" y="4105656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customizable, sector-adaptive and region-aware platform deployable for VC firms, angel investors, and global accelerator programs.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Edge: A Startup Success Model  |  Vinit Thakkar  |  Reg. 242703073  |  Mentor: Dr. Atul Kumar Verma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&amp; Model 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417320"/>
            <a:ext cx="8485632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490472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84048" y="1490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1481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Ingestion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1832" y="170992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structured data from Crunchbase/AngelList (funding), LinkedIn (team profiles), Google Trends, Product Hunt, Twitter/Reddit (sentiment). Covers 1000+ startups across sectors and regions.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" y="1929384"/>
            <a:ext cx="0" cy="155448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7472" y="2084832"/>
            <a:ext cx="8485632" cy="585216"/>
          </a:xfrm>
          <a:prstGeom prst="rect">
            <a:avLst/>
          </a:prstGeom>
          <a:solidFill>
            <a:srgbClr val="EAF0FB"/>
          </a:solidFill>
          <a:ln w="508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84048" y="2157984"/>
            <a:ext cx="438912" cy="438912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4048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1832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Cleaning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2377440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via median imputation, remove outliers using IQR, normalize features with Min-Max scaling, address class imbalance with SMOTE oversampling technique.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932" y="2596896"/>
            <a:ext cx="0" cy="155448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7472" y="2752344"/>
            <a:ext cx="8485632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825496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4048" y="2825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1832" y="28163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" y="3044952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50+ engineered features across 5 signal categories. Apply SHAP values for feature importance analysis and PCA for dimensionality reduction to the top predictive variables.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" y="3264408"/>
            <a:ext cx="0" cy="155448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47472" y="3419856"/>
            <a:ext cx="8485632" cy="585216"/>
          </a:xfrm>
          <a:prstGeom prst="rect">
            <a:avLst/>
          </a:prstGeom>
          <a:solidFill>
            <a:srgbClr val="EAF0FB"/>
          </a:solidFill>
          <a:ln w="508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84048" y="3493008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4048" y="3493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41832" y="3483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Selection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" y="371246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benchmark: Logistic Regression (baseline), Random Forest, XGBoost (Gradient Boosting), and a Neural Network. Use 80/10/10 train-val-test split with 5-fold cross-validation.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" y="3931920"/>
            <a:ext cx="0" cy="155448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47472" y="4087368"/>
            <a:ext cx="8485632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84048" y="4160520"/>
            <a:ext cx="438912" cy="438912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84048" y="4160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1832" y="4151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Deployment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41832" y="4379976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AUC-ROC, F1-Score, Precision/Recall metrics. Deploy as FastAPI microservice with a React investor dashboard enabling real-time PoS scoring and recommendations.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4617720"/>
            <a:ext cx="8485632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 •  Pandas / NumPy  •  Scikit-learn  •  XGBoost  •  TensorFlow  •  SHAP  •  FastAPI  •  React  • 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Results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Edge: A Startup Success Model  |  Vinit Thakkar  |  Reg. 242703073  |  Mentor: Dr. Atul Kumar Verma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Benefits for Every Stakeholder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417320"/>
            <a:ext cx="2724912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" y="1444752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7472" y="21031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Risk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285292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Quantifiably lower exposure through data-backed due diligence and objective scoring.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27832" y="1417320"/>
            <a:ext cx="2724912" cy="137160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27832" y="1444752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227832" y="21031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00984" y="285292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probability of achieving key milestones and securing next-round funding.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08192" y="1417320"/>
            <a:ext cx="2724912" cy="1371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08192" y="1444752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108192" y="21031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1344" y="285292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where to spend time and capital for maximum impact at every stage.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34472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Benchmarks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730752"/>
          <a:ext cx="8485632" cy="1219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XGBoost (Selected)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87%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81%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Neural Network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79%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Logistic Reg. (Baseline)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Edge: A Startup Success Model  |  Vinit Thakkar  |  Reg. 242703073  |  Mentor: Dr. Atul Kumar Verma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&amp; Research Extensions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417320"/>
            <a:ext cx="8485632" cy="704088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" y="1417320"/>
            <a:ext cx="749808" cy="7040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" y="1417320"/>
            <a:ext cx="749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14904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Model Training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174650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real-time pipelines from Crunchbase, LinkedIn, and social platforms. Finalise model architecture and run initial training against historical success/failure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2121408"/>
            <a:ext cx="0" cy="9144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7472" y="2212848"/>
            <a:ext cx="8485632" cy="704088"/>
          </a:xfrm>
          <a:prstGeom prst="rect">
            <a:avLst/>
          </a:prstGeom>
          <a:solidFill>
            <a:srgbClr val="EAF0FB"/>
          </a:solidFill>
          <a:ln w="508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47472" y="2212848"/>
            <a:ext cx="749808" cy="70408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" y="2212848"/>
            <a:ext cx="749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2286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 &amp; 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25420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pilot program with a select cohort of angel investors and seed-stage startups. Validate PoS scores against actual outcomes and refine model weights accordingly.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" y="2916936"/>
            <a:ext cx="0" cy="9144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7472" y="3008376"/>
            <a:ext cx="8485632" cy="704088"/>
          </a:xfrm>
          <a:prstGeom prst="rect">
            <a:avLst/>
          </a:prstGeom>
          <a:solidFill>
            <a:srgbClr val="FFFFFF"/>
          </a:solidFill>
          <a:ln w="508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47472" y="3008376"/>
            <a:ext cx="749808" cy="7040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3008376"/>
            <a:ext cx="749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7008" y="3081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Expansion &amp; UI/UX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07008" y="333756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full actionable recommendation engine and SHAP explainability layer. Finalise the interactive investor dashboard with role-based views for founders and VCs.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" y="3712464"/>
            <a:ext cx="0" cy="9144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47472" y="3803904"/>
            <a:ext cx="8485632" cy="704088"/>
          </a:xfrm>
          <a:prstGeom prst="rect">
            <a:avLst/>
          </a:prstGeom>
          <a:solidFill>
            <a:srgbClr val="EAF0FB"/>
          </a:solidFill>
          <a:ln w="508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47472" y="3803904"/>
            <a:ext cx="749808" cy="7040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7472" y="3803904"/>
            <a:ext cx="7498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07008" y="38770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Commercial Launch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07008" y="413308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platform to VC firms and global accelerator partners. Introduce subscription tiers, sector-specific parameter customization, and institutional API access.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4617720"/>
            <a:ext cx="8485632" cy="201168"/>
          </a:xfrm>
          <a:prstGeom prst="rect">
            <a:avLst/>
          </a:prstGeom>
          <a:solidFill>
            <a:srgbClr val="EAF0FB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47472" y="4617720"/>
            <a:ext cx="59436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2920" y="46177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Research:  Causal ML for startup intervention  •  Federated learning across VC firms  •  Explainable AI audit trails  •  Emerging-market model adaptation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760720" y="0"/>
            <a:ext cx="3383280" cy="4828032"/>
          </a:xfrm>
          <a:prstGeom prst="rect">
            <a:avLst/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713232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is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2395728"/>
            <a:ext cx="4114800" cy="411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2560320"/>
            <a:ext cx="109728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25146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Power: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715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entrepreneurial intuition and data-driven decision-making using a robust multi-signal ML engine.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090672"/>
            <a:ext cx="109728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" y="3044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Analysis: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five dimensions — Team, Funding, Market, Sentiment, Industry — for a complete, nuanced evaluation even pre-revenue.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621024"/>
            <a:ext cx="109728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" y="35753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3776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objective tool aligning the interests of founders, investors, and accelerators around quantified success metrics.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151376"/>
            <a:ext cx="109728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41056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ROI: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43068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investor risk by 30%, optimises resource allocation by 40%, and increases founder milestone achievement by 2.5x.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502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80467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move the art of startup funding closer to the science of predictive modeling."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828800"/>
            <a:ext cx="2834640" cy="36576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0" y="1920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certainty.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the Predictive Edge.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 Thakkar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242703073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Dr. Atul Kumar Verma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  |  A Startup Success Model  |  April 2026</a:t>
            </a:r>
            <a:endParaRPr lang="en-US" sz="8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B165EA-1AD9-1FFE-D387-52E1D52BE5E3}"/>
              </a:ext>
            </a:extLst>
          </p:cNvPr>
          <p:cNvSpPr txBox="1"/>
          <p:nvPr/>
        </p:nvSpPr>
        <p:spPr>
          <a:xfrm>
            <a:off x="274320" y="70139"/>
            <a:ext cx="4965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Prototype-https://thakkarvinit456.github.io/The-Predictive-Edge/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1554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D1F38"/>
          </a:solidFill>
          <a:ln w="12700">
            <a:solidFill>
              <a:srgbClr val="0D1F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Edge: A Startup Success Model  |  Vinit Thakkar  |  Reg. 242703073  |  Mentor: Dr. Atul Kumar Verma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Industry Citations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417320"/>
            <a:ext cx="848563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453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Blank, S., &amp; Dorf, B. (2012). The Startup Owner's Manual: The Step-by-Step Guide for Building a Great Company. K&amp;S Ranch Publishing.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1764792"/>
            <a:ext cx="8485632" cy="310896"/>
          </a:xfrm>
          <a:prstGeom prst="rect">
            <a:avLst/>
          </a:prstGeom>
          <a:solidFill>
            <a:srgbClr val="EAF0FB"/>
          </a:solidFill>
          <a:ln w="381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1801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Gompers, P., Gornall, W., Kaplan, S. N., &amp; Strebulaev, I. A. (2020). How do venture capitalists make decisions? Journal of Financial Economics, 135(1), 169–190.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112264"/>
            <a:ext cx="848563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148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Ries, E. (2011). The Lean Startup: How Today's Entrepreneurs Use Continuous Innovation. Crown Business, New York.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459736"/>
            <a:ext cx="8485632" cy="310896"/>
          </a:xfrm>
          <a:prstGeom prst="rect">
            <a:avLst/>
          </a:prstGeom>
          <a:solidFill>
            <a:srgbClr val="EAF0FB"/>
          </a:solidFill>
          <a:ln w="381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4963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Damodaran, A., &amp; Krishnan, V. (2020). Machine learning models for startup valuation and survival prediction. Journal of Entrepreneurial Finance, 22(1), 1–28.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807208"/>
            <a:ext cx="848563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28437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Chen, L., Wang, Y., &amp; Zhang, J. (2022). Graph Neural Networks for startup ecosystem analysis and success prediction. Proceedings of the 28th ACM SIGKDD Conference, 310–320.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154680"/>
            <a:ext cx="8485632" cy="310896"/>
          </a:xfrm>
          <a:prstGeom prst="rect">
            <a:avLst/>
          </a:prstGeom>
          <a:solidFill>
            <a:srgbClr val="EAF0FB"/>
          </a:solidFill>
          <a:ln w="381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1912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Liang, X., &amp; Patel, R. (2023). Integrating social sentiment and NLP signals into startup success prediction. Expert Systems with Applications, 210, 118–130.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502152"/>
            <a:ext cx="848563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538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CB Insights. (2023). The Top 12 Reasons Startups Fail. CB Insights Research Report. https://www.cbinsights.com/research/startup-failure-reasons-top/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849624"/>
            <a:ext cx="8485632" cy="310896"/>
          </a:xfrm>
          <a:prstGeom prst="rect">
            <a:avLst/>
          </a:prstGeom>
          <a:solidFill>
            <a:srgbClr val="EAF0FB"/>
          </a:solidFill>
          <a:ln w="381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Crunchbase. (2024). Global Startup Activity Report. Crunchbase News. https://news.crunchbase.com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4197096"/>
            <a:ext cx="848563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4233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Thakkar, V. (2025). The Predictive Edge: A Startup Success Model [Research Presentation]. Reg. No. 242703073. Mentor: Dr. Atul Kumar Verma.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2048</Words>
  <Application>Microsoft Office PowerPoint</Application>
  <PresentationFormat>On-screen Show (16:9)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Predictive Edge: A Startup Success Model</dc:title>
  <dc:subject>PptxGenJS Presentation</dc:subject>
  <dc:creator>PptxGenJS</dc:creator>
  <cp:lastModifiedBy>Vinit Thakkar [CSE - 2024]</cp:lastModifiedBy>
  <cp:revision>2</cp:revision>
  <dcterms:created xsi:type="dcterms:W3CDTF">2026-04-12T18:23:18Z</dcterms:created>
  <dcterms:modified xsi:type="dcterms:W3CDTF">2026-04-13T04:39:57Z</dcterms:modified>
</cp:coreProperties>
</file>